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c31e905d3549d8" /><Relationship Type="http://schemas.openxmlformats.org/officeDocument/2006/relationships/extended-properties" Target="/docProps/app.xml" Id="R14443e427087493c" /><Relationship Type="http://schemas.openxmlformats.org/officeDocument/2006/relationships/officeDocument" Target="/ppt/presentation.xml" Id="R966199811d844e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d4b19b1ea4f3e"/>
  </p:sldMasterIdLst>
  <p:notesMasterIdLst>
    <p:notesMasterId xmlns:r="http://schemas.openxmlformats.org/officeDocument/2006/relationships" r:id="R8f4d3919d8194968"/>
  </p:notesMasterIdLst>
  <p:sldIdLst>
    <p:sldId xmlns:r="http://schemas.openxmlformats.org/officeDocument/2006/relationships" id="256" r:id="Rcda6d4b3b4ba40fa"/>
    <p:sldId xmlns:r="http://schemas.openxmlformats.org/officeDocument/2006/relationships" id="257" r:id="R5e66150a875446b8"/>
    <p:sldId xmlns:r="http://schemas.openxmlformats.org/officeDocument/2006/relationships" id="258" r:id="R637d3479f9da41a8"/>
    <p:sldId xmlns:r="http://schemas.openxmlformats.org/officeDocument/2006/relationships" id="259" r:id="R1872d6403b0244db"/>
    <p:sldId xmlns:r="http://schemas.openxmlformats.org/officeDocument/2006/relationships" id="260" r:id="R177350ba88f543e8"/>
    <p:sldId xmlns:r="http://schemas.openxmlformats.org/officeDocument/2006/relationships" id="261" r:id="R0dbe9abc3fa747ae"/>
    <p:sldId xmlns:r="http://schemas.openxmlformats.org/officeDocument/2006/relationships" id="262" r:id="R3d01350e9db54937"/>
    <p:sldId xmlns:r="http://schemas.openxmlformats.org/officeDocument/2006/relationships" id="263" r:id="R33aed18b599b41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197404c58f4823" /><Relationship Type="http://schemas.openxmlformats.org/officeDocument/2006/relationships/slideMaster" Target="/ppt/slideMasters/slideMaster1.xml" Id="Re12d4b19b1ea4f3e" /><Relationship Type="http://schemas.openxmlformats.org/officeDocument/2006/relationships/notesMaster" Target="/ppt/notesMasters/notesMaster1.xml" Id="R8f4d3919d8194968" /><Relationship Type="http://schemas.openxmlformats.org/officeDocument/2006/relationships/presProps" Target="/ppt/presProps.xml" Id="Rc4c1a0bf698b4d5c" /><Relationship Type="http://schemas.openxmlformats.org/officeDocument/2006/relationships/tableStyles" Target="/ppt/tableStyles.xml" Id="Rb9634639af0b4ba4" /><Relationship Type="http://schemas.openxmlformats.org/officeDocument/2006/relationships/slide" Target="/ppt/slides/slide1.xml" Id="Rcda6d4b3b4ba40fa" /><Relationship Type="http://schemas.openxmlformats.org/officeDocument/2006/relationships/slide" Target="/ppt/slides/slide2.xml" Id="R5e66150a875446b8" /><Relationship Type="http://schemas.openxmlformats.org/officeDocument/2006/relationships/slide" Target="/ppt/slides/slide3.xml" Id="R637d3479f9da41a8" /><Relationship Type="http://schemas.openxmlformats.org/officeDocument/2006/relationships/slide" Target="/ppt/slides/slide4.xml" Id="R1872d6403b0244db" /><Relationship Type="http://schemas.openxmlformats.org/officeDocument/2006/relationships/slide" Target="/ppt/slides/slide5.xml" Id="R177350ba88f543e8" /><Relationship Type="http://schemas.openxmlformats.org/officeDocument/2006/relationships/slide" Target="/ppt/slides/slide6.xml" Id="R0dbe9abc3fa747ae" /><Relationship Type="http://schemas.openxmlformats.org/officeDocument/2006/relationships/slide" Target="/ppt/slides/slide7.xml" Id="R3d01350e9db54937" /><Relationship Type="http://schemas.openxmlformats.org/officeDocument/2006/relationships/slide" Target="/ppt/slides/slide8.xml" Id="R33aed18b599b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257fffada6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70b5e4177545ce" /><Relationship Type="http://schemas.openxmlformats.org/officeDocument/2006/relationships/notesMaster" Target="/ppt/notesMasters/notesMaster1.xml" Id="R2be6caab5724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c72ba6981b4d74" /><Relationship Type="http://schemas.openxmlformats.org/officeDocument/2006/relationships/notesMaster" Target="/ppt/notesMasters/notesMaster1.xml" Id="R7bb95c48566d49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3565eb0ecf40e2" /><Relationship Type="http://schemas.openxmlformats.org/officeDocument/2006/relationships/notesMaster" Target="/ppt/notesMasters/notesMaster1.xml" Id="R1fc0c42807c244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8a1483b765474e" /><Relationship Type="http://schemas.openxmlformats.org/officeDocument/2006/relationships/notesMaster" Target="/ppt/notesMasters/notesMaster1.xml" Id="Rfc7ca27ef5a442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be1e6591d4eb5" /><Relationship Type="http://schemas.openxmlformats.org/officeDocument/2006/relationships/notesMaster" Target="/ppt/notesMasters/notesMaster1.xml" Id="Rbcfd6ce463e74a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57a4896e134a8e" /><Relationship Type="http://schemas.openxmlformats.org/officeDocument/2006/relationships/notesMaster" Target="/ppt/notesMasters/notesMaster1.xml" Id="R98e0b096a54043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bf0d5d98a14eb2" /><Relationship Type="http://schemas.openxmlformats.org/officeDocument/2006/relationships/notesMaster" Target="/ppt/notesMasters/notesMaster1.xml" Id="Rffc115c0f5f645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0183c4fcae4fb6" /><Relationship Type="http://schemas.openxmlformats.org/officeDocument/2006/relationships/notesMaster" Target="/ppt/notesMasters/notesMaster1.xml" Id="Ref08921b07e54e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in this deck come from paired, battery-powered confirmation runs on the actual Latitude 7455. Manifest: benchmarks/results/confirm-auto-01/sweep.json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Cite the README screening table: NPU decode 36.5 tok/s vs CPU 10-thread 97.9 tok/s, while NPU full-trial efficiency is 2.11 tokens/J vs 1.37. Emphasize that every claim in this deck is a measured observation, not a vendor spec.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explicit: the components exist and are tested individually; the demo flow that chains tune, apply, secretary verification and MCP calls is still being integrated. Do not present the flow as a completed end-to-end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Aggregate is total native tokens divided by summed native phase times, not an average of run rates. Workload: 512 prompt tokens, 128 generated tokens, context 4096, temperature 0, seed 42, battery powered, Qwen3-0.6B Q4_0 with a pinned SHA-256. Model hash: 33bcc57074ec7b6eada5a90651ee546ec0c2b271002c22baf9f1b2dd1e8f75cb.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 is a Windows Energy Meter channel, not a wall-socket or NPU-only measurement. Conversions were independently checked (docs/energy-review.md). Screening tokens/J is deliberately null because the native JSON omits warmup token counts; only the confirmation runs with full token accounting produce this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the variability: default trial medians ranged 59 to 95 tok/s. A median-of-trial-medians view gives +42.9% but is sensitive to how slowdown episodes fall within trials; we disclose it rather than headline it. Pooled full-trial tokens/J was 1.5043 vs 1.5089, no material efficiency gain.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MCP server is a bounded loopback client of the gateway with schema-validated tools; no shell and no arbitrary file execution. The secretary evaluation measures action choice on 50 synthetic prompts with deterministic checks; it is a workload-level quality check, not a broad generalization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credibility: the tuner's value is that its recommendations carry evidence, scope and hashes. The boundaries listed are deliberate disclosures, not disclaimers added for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1ee8abaaf4e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39282ac074be1" /><Relationship Type="http://schemas.openxmlformats.org/officeDocument/2006/relationships/slideLayout" Target="/ppt/slideLayouts/slideLayout1.xml" Id="R937af59b223647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af59b223647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f609252864ff4" /><Relationship Type="http://schemas.openxmlformats.org/officeDocument/2006/relationships/notesSlide" Target="/ppt/notesSlides/notesSlide1.xml" Id="R1e709ac0d30d4c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16d0254d148b2" /><Relationship Type="http://schemas.openxmlformats.org/officeDocument/2006/relationships/notesSlide" Target="/ppt/notesSlides/notesSlide2.xml" Id="R036be6cb559d4f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e7de30744490f" /><Relationship Type="http://schemas.openxmlformats.org/officeDocument/2006/relationships/notesSlide" Target="/ppt/notesSlides/notesSlide3.xml" Id="Rb5031631a93548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9423f2b934b2d" /><Relationship Type="http://schemas.openxmlformats.org/officeDocument/2006/relationships/chart" Target="/ppt/slides/charts/chart1.xml" Id="R43153fc477d1429a" /><Relationship Type="http://schemas.openxmlformats.org/officeDocument/2006/relationships/notesSlide" Target="/ppt/notesSlides/notesSlide4.xml" Id="R30ca05c1cc0c4f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d115dc0a147eb" /><Relationship Type="http://schemas.openxmlformats.org/officeDocument/2006/relationships/chart" Target="/ppt/slides/charts/chart2.xml" Id="R86f8013bfa9e4ddb" /><Relationship Type="http://schemas.openxmlformats.org/officeDocument/2006/relationships/notesSlide" Target="/ppt/notesSlides/notesSlide5.xml" Id="Re5b2deb18d724d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8f719d8004d84" /><Relationship Type="http://schemas.openxmlformats.org/officeDocument/2006/relationships/chart" Target="/ppt/slides/charts/chart3.xml" Id="Rc051a7b0048d4c0a" /><Relationship Type="http://schemas.openxmlformats.org/officeDocument/2006/relationships/notesSlide" Target="/ppt/notesSlides/notesSlide6.xml" Id="R8e40fa4e106c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070608fe5431e" /><Relationship Type="http://schemas.openxmlformats.org/officeDocument/2006/relationships/notesSlide" Target="/ppt/notesSlides/notesSlide7.xml" Id="R50e4d4e3890e4d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e1f6691ad4c9f" /><Relationship Type="http://schemas.openxmlformats.org/officeDocument/2006/relationships/notesSlide" Target="/ppt/notesSlides/notesSlide8.xml" Id="Ra9fda1a3faf24a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Aggregate native decode tok/s, Qwen3-0.6B Q4_0, battery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B2E2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Aggregate decode tok/s</c:v>
          </c:tx>
          <c:spPr>
            <a:solidFill xmlns:a="http://schemas.openxmlformats.org/drawingml/2006/main">
              <a:srgbClr val="2B2E2A"/>
            </a:solidFill>
          </c:spPr>
          <c:cat>
            <c:strRef>
              <c:f>'Chart Data'!$A$2:$A$3</c:f>
              <c:strCache>
                <c:ptCount val="2"/>
                <c:pt idx="0">
                  <c:v>NPU (default auto)</c:v>
                </c:pt>
                <c:pt idx="1">
                  <c:v>CPU, 10 decode threads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36.36</c:v>
                </c:pt>
                <c:pt idx="1">
                  <c:v>97.19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Full-trial SYS tokens/J, battery-powered runs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B2E2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Full-trial SYS tokens/J</c:v>
          </c:tx>
          <c:spPr>
            <a:solidFill xmlns:a="http://schemas.openxmlformats.org/drawingml/2006/main">
              <a:srgbClr val="7FA312"/>
            </a:solidFill>
          </c:spPr>
          <c:cat>
            <c:strRef>
              <c:f>'Chart Data'!$A$2:$A$3</c:f>
              <c:strCache>
                <c:ptCount val="2"/>
                <c:pt idx="0">
                  <c:v>NPU (default auto)</c:v>
                </c:pt>
                <c:pt idx="1">
                  <c:v>CPU, 10 decode threads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2.1089</c:v>
                </c:pt>
                <c:pt idx="1">
                  <c:v>1.3679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CPU-only confirmation, same model, five alternating pairs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B2E2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Aggregate decode tok/s</c:v>
          </c:tx>
          <c:spPr>
            <a:solidFill xmlns:a="http://schemas.openxmlformats.org/drawingml/2006/main">
              <a:srgbClr val="2B2E2A"/>
            </a:solidFill>
          </c:spPr>
          <c:cat>
            <c:strRef>
              <c:f>'Chart Data'!$A$2:$A$3</c:f>
              <c:strCache>
                <c:ptCount val="2"/>
                <c:pt idx="0">
                  <c:v>Default CPU (12 threads)</c:v>
                </c:pt>
                <c:pt idx="1">
                  <c:v>Selected CPU (10 threads)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75.86</c:v>
                </c:pt>
                <c:pt idx="1">
                  <c:v>88.65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948FC-428B-4A81-8F61-6CC60F6A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129"/>
          </a:solidFill>
          <a:ln xmlns:a="http://schemas.openxmlformats.org/drawingml/2006/main" w="0">
            <a:solidFill>
              <a:srgbClr val="A8D12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40F46-2220-466B-9B0F-E9F8A81E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D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8D129"/>
                </a:solidFill>
                <a:latin typeface="Helvetica Neue"/>
                <a:ea typeface="Helvetica Neue"/>
                <a:cs typeface="Helvetica Neue"/>
              </a:rPr>
              <a:t>LOCAL INFERENCE TUNER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EED8F-DEE5-4A46-A376-48931289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00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Getting a model onto Snapdragon is easy.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Getting it fast is guesswork.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23876-A83B-47B1-BEF2-2FAD85DD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rPr>
              <a:t>A local tuner that measures real configurations on your device and recommends the one that fits your latency or battery objective.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F4D10-ADAE-4BAE-8301-131B540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9AA096"/>
                </a:solidFill>
                <a:latin typeface="Helvetica Neue"/>
                <a:ea typeface="Helvetica Neue"/>
                <a:cs typeface="Helvetica Neue"/>
              </a:rPr>
              <a:t>Demo build - Dell Latitude 7455, Snapdragon X Elite X1E-80-100 - Qwen3-0.6B Q4_0 -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83336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DDF49-F1CA-440B-BE02-7E26833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7B53-D351-4C1A-B381-E3233B7B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Backend choice today is guesswork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9A01F-C32C-4B94-9DEF-8DCF8095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The same model on the same laptop runs at very different speeds depending on runtime device and thread settings.</a:t>
            </a:r>
          </a:p>
          <a:p xmlns:a="http://schemas.openxmlformats.org/drawingml/2006/main">
            <a:pPr>
              <a:def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Most teams pick a default, read one benchmark number, and never measure again on their own hardware.</a:t>
            </a:r>
          </a:p>
          <a:p xmlns:a="http://schemas.openxmlformats.org/drawingml/2006/main">
            <a:pPr>
              <a:def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Intuition fails: on this Snapdragon X Elite laptop the NPU is the slowest decode backend for a small model, and CPU thread count changes throughput by double digits.</a:t>
            </a:r>
          </a:p>
          <a:p xmlns:a="http://schemas.openxmlformats.org/drawingml/2006/main">
            <a:pPr>
              <a:def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The tuner replaces intuition with paired, repeatable measurements on the exact device, weights and workload you ship.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1C78D-439A-4589-A7FE-AD5666B1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Fastest decode is not the whole story: the NPU leg used 54% less energy for the same output. Speed and efficiency pull in opposite directions.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BC89E-1A19-44B5-BA73-D950160D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rPr>
              <a:t>Sources: benchmarks/results/README.md; confirm-01 and confirm-auto-01 manifests (Qwen3-0.6B Q4_0, 512 prompt / 128 generated tokens, battery).</a:t>
            </a:r>
          </a:p>
        </p:txBody>
      </p:sp>
    </p:spTree>
    <p:extLst>
      <p:ext uri="{BB962C8B-B14F-4D97-AF65-F5344CB8AC3E}">
        <p14:creationId xmlns:p14="http://schemas.microsoft.com/office/powerpoint/2010/main" val="707671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5E2D9-746B-44DD-801B-16EE10FF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FB8C6-A7F3-40F4-A78D-30F00BE2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Tuner, service, MCP tools, verified secretary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01FB3-0D90-4318-A7E9-7AF5426B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Sweep runner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Native GenieX / llama.cpp benchmarks across device, threads, context and batch cells; per-cell JSON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40F25-0E6D-4269-8E41-E0010470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Ranking + recommendation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Ranks measured cells, builds the Pareto frontier, exports recommended modes with hashes and workload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3ADB9-0D7F-497B-9C42-C0D8851F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Local gateway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Loopback HTTP service: status, modes, apply, tune and run endpoints; no cloud dependency.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EE4BF-1566-41F8-AFE5-8CE5C89B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9908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MCP server + secretary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Bounded MCP tools for coding agents; verified secretary fixture tasks check actions before any apply.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25327-5890-44FB-BF85-6A1B25B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12"/>
          </a:solidFill>
          <a:ln xmlns:a="http://schemas.openxmlformats.org/drawingml/2006/main" w="0">
            <a:solidFill>
              <a:srgbClr val="7FA3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4A9FC-6A33-40E0-A3F4-ACAF87D9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670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12"/>
          </a:solidFill>
          <a:ln xmlns:a="http://schemas.openxmlformats.org/drawingml/2006/main" w="0">
            <a:solidFill>
              <a:srgbClr val="7FA3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0E9DE-DD97-48C8-958D-8D91397B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12"/>
          </a:solidFill>
          <a:ln xmlns:a="http://schemas.openxmlformats.org/drawingml/2006/main" w="0">
            <a:solidFill>
              <a:srgbClr val="7FA3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98EFF-0663-4B05-A083-A62DDAF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Modes: fast (CPU, 10 decode threads) and efficient (NPU) map measured profiles to objectives.</a:t>
            </a:r>
          </a:p>
          <a:p xmlns:a="http://schemas.openxmlformats.org/drawingml/2006/main">
            <a:pPr>
              <a:defRPr sz="135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UNO Q attach is optional future work; it is not part of the current measured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FBC94-D4FA-4B03-B6C7-66C813F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B2E2A"/>
          </a:solidFill>
          <a:ln xmlns:a="http://schemas.openxmlformats.org/drawingml/2006/main" w="0">
            <a:solidFill>
              <a:srgbClr val="2B2E2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flow (tune, apply, verified secretary run, MCP tool calls) is under integration and is not yet a proven end-to-end pass.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55DCD-7559-4FE2-930F-4A945579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rPr>
              <a:t>Sources: docs/tuner-api.md, docs/agent-interface.md, docs/secretary-evaluation.md.</a:t>
            </a:r>
          </a:p>
        </p:txBody>
      </p:sp>
    </p:spTree>
    <p:extLst>
      <p:ext uri="{BB962C8B-B14F-4D97-AF65-F5344CB8AC3E}">
        <p14:creationId xmlns:p14="http://schemas.microsoft.com/office/powerpoint/2010/main" val="1898547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9F48E-E66A-4B31-BA88-BA69558C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rPr>
              <a:t>MEASURED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BD276-2A97-40A2-922B-1EE543EB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CPU 10 threads decodes 2.67x faster than default NPU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153fc477d1429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95A37-2FDF-4A36-A87E-5D90917F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7909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2.67x</a:t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decode advantage for the selected CPU configuration over default auto placement on the same weights, workload and power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Same 512 prompt / 128 generated token workload, five alternating pairs, cold KV, all 25 repetitions per leg completed.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This is backend selection, not a new kernel: the win comes from choosing the right device and thread count, not from custom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FAD20-9989-4B23-99BD-E8709A0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rPr>
              <a:t>Source: benchmarks/results/confirm-auto-01/sweep.json via recommended.json (aggregate native decode: 36.36 vs 97.19 tok/s).</a:t>
            </a:r>
          </a:p>
        </p:txBody>
      </p:sp>
    </p:spTree>
    <p:extLst>
      <p:ext uri="{BB962C8B-B14F-4D97-AF65-F5344CB8AC3E}">
        <p14:creationId xmlns:p14="http://schemas.microsoft.com/office/powerpoint/2010/main" val="481372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F681C-F0E2-455E-8378-91C0888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rPr>
              <a:t>ENERGY TRADE-OFF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0DF5C-BD5D-44FD-8902-3E0B331A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NPU delivers 1.54x the tokens per joule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f8013bfa9e4dd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6C1A1-3E76-4EBA-9885-ABF18222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7909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1.54x</a:t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full-trial efficiency for the NPU; the CPU leg used 54% more measured SYS energy for the same 3,200 generated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The energy interval includes model loading, prefill and decode. It does not establish decode-only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Objective matters: pick fast with CPU, or efficient with NPU. The tuner exports both, with hashes and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E01A1-B3D7-46AB-BC14-7534BFF6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rPr>
              <a:t>Source: confirm-auto-01 pooled SYS energy deltas (Windows Energy Meter, pWh to J), reported in benchmarks/results/README.md and recommended.json.</a:t>
            </a:r>
          </a:p>
        </p:txBody>
      </p:sp>
    </p:spTree>
    <p:extLst>
      <p:ext uri="{BB962C8B-B14F-4D97-AF65-F5344CB8AC3E}">
        <p14:creationId xmlns:p14="http://schemas.microsoft.com/office/powerpoint/2010/main" val="940090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2C379-0EAB-4E21-81B4-ADD6663A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rPr>
              <a:t>HONEST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2B7F1-7B13-4220-904C-2511823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The stronger CPU comparison shows +16.9% aggregate, +3.2% median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51a7b0048d4c0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F7720-6F32-4128-89B2-372D3D1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7909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Aggregate decode: 75.86 to 88.65 tok/s, +16.9%.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Median individual run: +3.2%. Both legs show slowdown dips; their cause is unresolved and the next run records power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We show this note so tuning headlines are not misleading: the 2.67x number is backend selection, and CPU thread tuning alone is a smaller, variable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D280E-6BA7-4462-835B-0AE0824A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rPr>
              <a:t>Source: benchmarks/results/confirm-01/sweep.json; 9,600 generated tokens per configuration, no in-process warmup.</a:t>
            </a:r>
          </a:p>
        </p:txBody>
      </p:sp>
    </p:spTree>
    <p:extLst>
      <p:ext uri="{BB962C8B-B14F-4D97-AF65-F5344CB8AC3E}">
        <p14:creationId xmlns:p14="http://schemas.microsoft.com/office/powerpoint/2010/main" val="1802992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C3CC2-2C18-4E63-9483-0C41A8E8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F9CCC-E733-4B51-BCC7-6CD4CD24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Tune, apply, verify, then use it from an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4A928-31C3-4A3B-8937-4A6D4C4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1 - Tune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Sweep real configurations on the device; every cell writes JSON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69ED2-544C-4DD2-B513-2D4E95D3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12"/>
          </a:solidFill>
          <a:ln xmlns:a="http://schemas.openxmlformats.org/drawingml/2006/main" w="0">
            <a:solidFill>
              <a:srgbClr val="7FA3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6B117-49E9-48A1-B91F-D3233D7C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2 - Apply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Export and apply the recommended mode with hashes and workload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AF85A-477E-4074-B714-C54977A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12"/>
          </a:solidFill>
          <a:ln xmlns:a="http://schemas.openxmlformats.org/drawingml/2006/main" w="0">
            <a:solidFill>
              <a:srgbClr val="7FA3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34922-5AA9-420B-9AE1-A1106134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3 - 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Secretary fixtures check the exact tool action before the result is trusted.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8D6AC-266F-45BE-AF88-3631BD1B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12"/>
          </a:solidFill>
          <a:ln xmlns:a="http://schemas.openxmlformats.org/drawingml/2006/main" w="0">
            <a:solidFill>
              <a:srgbClr val="7FA3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BB0B5-BB03-48B2-88B5-89A52E4B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B2E2A"/>
          </a:solidFill>
          <a:ln xmlns:a="http://schemas.openxmlformats.org/drawingml/2006/main" w="9525">
            <a:solidFill>
              <a:srgbClr val="2B2E2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4 -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Coding agents call bounded MCP tools: modes, run, tune, apply, verify.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90C2B-C505-4F1C-8318-07782B9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D129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Status: LIVE FLOW UNDER INTEGRATION. Components are individually tested; the chained tune-apply-verify-MCP demo has not yet passed end to end. We will say so on stage until it does.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9A4BD-6027-4179-9595-7CA83A7B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rPr>
              <a:t>Sources: docs/agent-interface.md (MCP tool surface), docs/secretary-evaluation.md (action-level fixtures, held-out split).</a:t>
            </a:r>
          </a:p>
        </p:txBody>
      </p:sp>
    </p:spTree>
    <p:extLst>
      <p:ext uri="{BB962C8B-B14F-4D97-AF65-F5344CB8AC3E}">
        <p14:creationId xmlns:p14="http://schemas.microsoft.com/office/powerpoint/2010/main" val="701738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8795C-9646-4124-B489-4DE7052A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FA312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3092B-0F11-4BEA-A684-1FB64FF4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Next: larger models, calibrated routing, UNO Q worker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1165A-D050-4AD0-888B-702B4CB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Larger-model routing: route between the small model and a larger local model, escalating only when a structured output fails validation. Quality comes from measured held-out task rates, never from model size alone.</a:t>
            </a:r>
          </a:p>
          <a:p xmlns:a="http://schemas.openxmlformats.org/drawingml/2006/main">
            <a:pPr>
              <a:def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UNO Q worker: attach an optional UNO Q device as a benchmark target and remote worker. Available hardware, not required for the tuner core.</a:t>
            </a:r>
          </a:p>
          <a:p xmlns:a="http://schemas.openxmlformats.org/drawingml/2006/main">
            <a:pPr>
              <a:def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Power-state and thermal recording on every confirmation run, to explain the slowdown dips seen in the CPU confirmation.</a:t>
            </a:r>
          </a:p>
          <a:p xmlns:a="http://schemas.openxmlformats.org/drawingml/2006/main">
            <a:pPr>
              <a:def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QAIRT / QNN compiled bundles as first-class variants, one registered variant per compiled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40192-E0B2-4513-8292-3E03387B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DDF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Honest boundaries</a:t>
            </a:r>
          </a:p>
          <a:p xmlns:a="http://schemas.openxmlformats.org/drawingml/2006/main">
            <a:pPr>
              <a:defRPr sz="12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All results are one device, one small model, one workload, battery power. No claim of superiority over all open-source stacks. No 100% support claim for any model. No invented quality scores: unmeasured quality means unavailable, never a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203FA-3092-4C49-97F4-A38F7FF0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E736B"/>
                </a:solidFill>
                <a:latin typeface="Helvetica Neue"/>
                <a:ea typeface="Helvetica Neue"/>
                <a:cs typeface="Helvetica Neue"/>
              </a:rPr>
              <a:t>Sources: docs/model-routing.md, AGENTS.md measurement rules, benchmarks/results/README.md scope statements.</a:t>
            </a:r>
          </a:p>
        </p:txBody>
      </p:sp>
    </p:spTree>
    <p:extLst>
      <p:ext uri="{BB962C8B-B14F-4D97-AF65-F5344CB8AC3E}">
        <p14:creationId xmlns:p14="http://schemas.microsoft.com/office/powerpoint/2010/main" val="190494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2026-09-15T22:30:41.6320000Z</dcterms:created>
  <dcterms:modified xsi:type="dcterms:W3CDTF">2026-09-15T22:30:41.6320000Z</dcterms:modified>
</coreProperties>
</file>